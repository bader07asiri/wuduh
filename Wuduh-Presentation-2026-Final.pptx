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9" r:id="rId30"/>
    <p:sldId id="280" r:id="rId3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097280" cy="10972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وضوح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4A017"/>
                </a:solidFill>
                <a:latin typeface="Calibri Light"/>
              </a:rPr>
              <a:t>Wuduh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منصة إدارة المشاريع المدعومة بالذكاء الاصطناعي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 Light"/>
              </a:rPr>
              <a:t>AI-Powered Project Management Platform  ·  PMBOK® Guide 7th Edition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343400"/>
            <a:ext cx="5486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مُعدّ للعرض أمام الشركات والجهات الحكومية  |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5943600"/>
            <a:ext cx="2286000" cy="6400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5971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🇸🇦  رؤية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جدول المحتويات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المشكلة والفرصة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019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The Problem &amp; 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الحل: منصة وضوح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07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The Solution: Wuduh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20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الأساس المعياري (PMBOK)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PMI/PMBOK® Foundation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ميزات المنصة والذكاء الاصطناعي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Platform Features &amp; AI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8640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القطاعات المدعومة (23 قطاع)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25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23 Supported Industries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46304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46304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5544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البنية التقنية والأمان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9019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Tech Stack &amp; Security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46888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46888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5603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خطط الأسعار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907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Pricing Plans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47472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47472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5661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20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فرصة السوق ونموذج الأعمال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913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Market Opportunity &amp; Business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48056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48056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5720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526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خارطة الطريق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Product Roadmap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486400"/>
            <a:ext cx="5577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486400"/>
            <a:ext cx="45720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5778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532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الميزة التنافسية والدعوة للعمل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925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Competitive Edge &amp; 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المشكلة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A017"/>
                </a:solidFill>
                <a:latin typeface="Calibri Light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هدر الوقت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مديرو المشاريع يقضون 40%+ من وقتهم في إعداد الوثائق يدوياً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40%+ of PM time spent on manual documentation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645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غياب المعايير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معظم الشركات لا تتبع معايير PMBOK أو PMI بشكل منهجي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44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Most firms lack systematic PMI/PMBOK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تكاليف باهظة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الاستشاريون والبرمجيات التقليدية تكلف آلاف الريالات شهرياً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30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Traditional consultants &amp; tools cost thousands monthly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931920"/>
            <a:ext cx="54864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  <a:latin typeface="Arial"/>
              </a:rPr>
              <a:t>فجوة اللغة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451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لا توجد منصة PM احترافية باللغة العربية تفهم السوق السعودي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30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 Light"/>
              </a:rPr>
              <a:t>No professional Arabic PM platform for the Saudi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الحل: منصة وضوح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AI-Powered Project Management — Built for Saudi Arabia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Arial"/>
              </a:rPr>
              <a:t>وضوح يحوّل بيانات مشروعك إلى خطة PMI متكاملة في دقائق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3566160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4FD8"/>
                </a:solidFill>
                <a:latin typeface="Arial Black"/>
              </a:rPr>
              <a:t>ذكاء اصطناعي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Claude AI يولّد الأجندة
وخطة المخاطر والـ WBS
وفق PMBOK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Claude AI generates agenda,
risk register &amp; WBS
per PMBOK 7th Edition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06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606040"/>
            <a:ext cx="3566160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4FD8"/>
                </a:solidFill>
                <a:latin typeface="Arial Black"/>
              </a:rPr>
              <a:t>25+ وثيقة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PDF · Word · Excel · PowerPoint
جاهزة للطباعة والتسليم
بضغطة واحدة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25+ project documents
PDF, Word, Excel, PowerPoint
ready in one click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606040"/>
            <a:ext cx="35661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606040"/>
            <a:ext cx="3566160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520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4FD8"/>
                </a:solidFill>
                <a:latin typeface="Arial Black"/>
              </a:rPr>
              <a:t>23 قطاعاً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114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من النفط والغاز للتقنية
والرعاية الصحية والحكومة
بسياق خاص لكل قطاع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303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Oil &amp; gas to tech to healthcare
Government &amp; construction
Sector-specific AI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الأساس المعياري الدولي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Built on PMI PMBOK® Guide — 7th Edition (The Global Standard for Project Management)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مبادئ PMBOK 7 المُطبّقة في وضوح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إشراك أصحاب المصلحة (Stakeholder Engagement)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9191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426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التركيز على نتائج الأعمال (Outcomes Focus)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3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التسليم بالقيمة المستمرة (Value Delivery)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5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3755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إدارة المخاطر الاستباقية (Proactive Risk Mgmt)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21607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التكيّف والمرونة (Adaptability &amp; Resilience)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79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3250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تمكين الفريق وقيادته (Team Empowerment)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الحوكمة والرقابة (Governance &amp; Oversight)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64023"/>
            <a:ext cx="164592" cy="16459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27447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التحسين المستمر (Continuous Improvement)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55448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554480"/>
            <a:ext cx="57607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916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مجالات الأداء المدعومة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331720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35915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📊 أصحاب المصلحة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3865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Stakeholders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724912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7523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👥 الفريق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7797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Team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118104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1455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🔄 نهج التطوير والدورة الحياتية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1729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Development Approach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511296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5387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📋 التخطيط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5661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Planning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904488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931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⚙️ العمل المشروعي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959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Project 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297680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📦 التسليم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3525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Delivery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690872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47183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📈 القياس والتقييم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745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Measurement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084064"/>
            <a:ext cx="53949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51114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⚠️ عدم اليقين والمخاطر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513892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 Light"/>
              </a:rPr>
              <a:t>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كيف يعمل وضوح؟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From Project Brief to Full PMI Documentation in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749039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86868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868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Arial"/>
              </a:rPr>
              <a:t>أدخل بيانات مشروعك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4FD8"/>
                </a:solidFill>
                <a:latin typeface="Calibri Light"/>
              </a:rPr>
              <a:t>Input Project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اسم المشروع، القطاع، الميزانية
الفريق، المدة، الأهداف، القيود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Project name, industry, budget
Team size, timeline,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690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749039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74519"/>
            <a:ext cx="86868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901952"/>
            <a:ext cx="868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26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Arial"/>
              </a:rPr>
              <a:t>وضوح يبني الأجندة بالذكاء الاصطناعي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4FD8"/>
                </a:solidFill>
                <a:latin typeface="Calibri Light"/>
              </a:rPr>
              <a:t>AI Builds Your Agenda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Claude AI يحلّل بياناتك ويولّد:
المراحل · المهام · المخاطر · KPIs
وفق PMBOK 7 + سياق قطاعك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3035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Claude AI analyzes &amp; generates:
Phases, tasks, risks, KPIs
Per PMBOK 7 + sector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690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00200"/>
            <a:ext cx="3749039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1874519"/>
            <a:ext cx="868680" cy="8686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901952"/>
            <a:ext cx="868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26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Arial"/>
              </a:rPr>
              <a:t>اعتمد وحمّل وثائقك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4FD8"/>
                </a:solidFill>
                <a:latin typeface="Calibri Light"/>
              </a:rPr>
              <a:t>Approve &amp;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23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Arial"/>
              </a:rPr>
              <a:t>راجع الأجندة، أضف ملاحظاتك
اعتمد واستلم 25+ وثيقة
PDF · Word · Excel · PowerPoint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30352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Review agenda, add notes
Approve &amp; receive 25+ docs
PDF, Word, Excel, PowerPoint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ميزات المنصة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Platform Features — What Wuduh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توليد أجندة ذكية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AI-Generated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أجندة مشروع متكاملة بالمراحل
والمهام والمسؤوليات تلقائياً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60020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764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6916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سجل المخاطر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Risk 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40487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تحليل المخاطر وخطط التخفيف
وفق معايير PMI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0020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764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0264" y="16916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هيكل تقسيم العمل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075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Work Breakdown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40487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WBS تفصيلية جاهزة للاستيراد
في أدوات PM المعتادة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9184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83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الجداول الزمنية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67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Gantt &amp; Schedules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9651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مخطط جانت وجداول المعالم
بصيغ Excel و 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329184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3383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الميزانية والتكاليف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3767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Budget &amp; Cost Estimates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409651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تقديرات تكلفة وميزانيات
بصيغ Excel قابلة للتعديل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29184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34564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3383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إدارة أصحاب المصلحة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37673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Stakeholder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09651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سجل أصحاب المصلحة وخطة
التواصل والمتابعة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98348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0749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تقارير الحالة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458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Status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78815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تقارير دورية احترافية
جاهزة للرفع للإدارة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498348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50749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مؤشرات النجاح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5458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KPIs &amp; Success Metrics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578815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KPIs مُعرّفة قابلة للقياس
مرتبطة بأهداف المشروع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38744" y="4983480"/>
            <a:ext cx="374903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4" y="507492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تحكم بالوصول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0264" y="5458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Access Control &amp; 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0264" y="5788152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Rate limiting + Security headers
CSP + HSTS + RLS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محرك الذكاء الاصطناعي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AI Engine — Powered by Anthropic Claude Sonnet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43891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Calibr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Anthropic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4A017"/>
                </a:solidFill>
                <a:latin typeface="Calibri Light"/>
              </a:rPr>
              <a:t>claude-sonnet-4-6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State-of-the-art language model
for project management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50876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6916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7335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توليد الأجندة المشروعية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25856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يحلّل معطيات المشروع ويبني خطة PMBOK كاملة
مع مراحل ومهام وجداول زمنية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416052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4343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3251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تحليل المخاطر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91032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يرصد المخاطر المحتملة ويعطي درجة خطورة
ويقترح خطة تخفيف لكل خطر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50876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67335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السياق القطاعي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5856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23 قطاعاً بسياق خاص: لوائح، معايير، مصطلحات
تجعل المخرجات دقيقة لكل صناعة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4160520"/>
            <a:ext cx="3154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343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latin typeface="Calibr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3251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توليد الوثائق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910328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25+ وثيقة مشروع احترافية
بصيغ PDF وWord وExcel وPowerPoint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11338560" cy="548640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⚠️  تنبيه قانوني: مخرجات الذكاء الاصطناعي تتطلب مراجعة بشرية من متخصص معتمد قبل الاستخدام الرسمي. وضوح لا يتحمل مسؤولية القرارات المبنية عليها دون مراجعة.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92040"/>
            <a:ext cx="1133856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آليات الحماية والجودة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Rate Limiting: 10 طلبات ذكاء اصطناعي/دقيقة لكل مستخدم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Input Validation: تحقق كامل من مدخلات المشروع قبل الإرسال للذكاء الاصطناعي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AI Logging: تسجيل كامل لكل طلب في قاعدة البيانات لمراقبة الجودة والتكلفة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• Graceful Fallback: رسائل خطأ واضحة عند فشل التوليد مع خيار إعادة المحاولة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25+ وثيقة مشروع احترافية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Professional Project Deliverables — Generated by AI, Ready to 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749039" cy="7315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وثائق التخطيط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9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Planning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58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ميثاق المشروع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42615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8775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المشروع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799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91693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بيان النطاق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00983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246119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هيكل WBS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7"/>
            <a:ext cx="128016" cy="128016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57530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سجل أصحاب المصلحة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1508760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508760"/>
            <a:ext cx="3749039" cy="73152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الجداول الزمنية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1929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Schedules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6552" y="2313432"/>
            <a:ext cx="128016" cy="128016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2258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مخطط جانت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6552" y="2642615"/>
            <a:ext cx="128016" cy="128016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258775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جدول المشروع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6552" y="2971799"/>
            <a:ext cx="128016" cy="128016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291693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مخطط المعالم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1508760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1508760"/>
            <a:ext cx="3749039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6184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الموارد والميزانية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19293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Resources &amp; Budget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2313432"/>
            <a:ext cx="128016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2258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الموارد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642615"/>
            <a:ext cx="128016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6" y="258775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الميزانية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4" y="2971799"/>
            <a:ext cx="128016" cy="12801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6" y="291693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تقديرات التكاليف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31920"/>
            <a:ext cx="3749039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931920"/>
            <a:ext cx="3749039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المخاطر والجودة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3525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Risk &amp; Quality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736592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681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سجل المخاطر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065776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010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الاستجابة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94960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534009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الجودة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24144"/>
            <a:ext cx="128016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56692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قائمة التحقق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79392" y="3236975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79392" y="3236975"/>
            <a:ext cx="3749039" cy="73152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16552" y="33467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التواصل والتقارير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16552" y="36575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Communication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16552" y="4041647"/>
            <a:ext cx="128016" cy="128016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26864" y="398678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خطة التواصل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16552" y="4370831"/>
            <a:ext cx="128016" cy="128016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43159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تقرير الحالة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16552" y="4700016"/>
            <a:ext cx="128016" cy="128016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6864" y="46451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محضر الاجتماع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38744" y="3236975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38744" y="3236975"/>
            <a:ext cx="3749039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75904" y="33467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العروض التقديمية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5904" y="36575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Presentations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75904" y="4041647"/>
            <a:ext cx="128016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86216" y="398678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عرض الانطلاق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75904" y="4370831"/>
            <a:ext cx="128016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86216" y="43159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عرض أصحاب المصلحة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75904" y="4700016"/>
            <a:ext cx="128016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86216" y="464515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عرض التقدم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6007608"/>
            <a:ext cx="3749039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6007608"/>
            <a:ext cx="3749039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117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Arial"/>
              </a:rPr>
              <a:t>إغلاق المشروع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428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 Light"/>
              </a:rPr>
              <a:t>Project Closure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812280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" y="675741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تقرير الإغلاق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7141464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7512" y="70866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الدروس المستفادة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7470648"/>
            <a:ext cx="128016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74157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قائمة الإغلاق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6355080"/>
            <a:ext cx="1152144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382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Arial"/>
              </a:rPr>
              <a:t>الصيغ المتاحة: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20240" y="6428232"/>
            <a:ext cx="10972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8483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PDF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7680" y="6428232"/>
            <a:ext cx="109728" cy="20116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6227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Word (.docx)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6428232"/>
            <a:ext cx="109728" cy="201168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3971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Excel (.xlsx)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52560" y="6428232"/>
            <a:ext cx="10972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17152" y="6382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PowerPoint (.pptx)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23 قطاعاً مدعوماً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23 Supported Industries — Sector-Specific AI Context for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المقاولات والإنشاء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التقنية والبرمجيات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59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79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الرعاية الصحية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التصنيع والصناعة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325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1435607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التعليم والتدريب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التجزئة والتجارة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79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المالية والبنوك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59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799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الجهات الحكومية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19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الطاقة والكهرباء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468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🛢️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2578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النفط والغاز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النقل والمواصلات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79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اللوجستيات والشحن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59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799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الضيافة والفنادق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19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✈️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59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السياحة والترفيه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3611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1240" y="3685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3721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العقارات والتطوير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الاتصالات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39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79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الإعلام والنشر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66359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7799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644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الزراعة والغذاء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19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🛡️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59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الدفاع والأمن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9800" y="4754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⚖️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4864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الخدمات القانونية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897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971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6007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الاستشارات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39" y="5897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26079" y="5971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74720" y="6007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المنظمات غير الربحية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6359" y="5897880"/>
            <a:ext cx="214884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57799" y="5971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6440" y="600760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قطاعات أخرى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5989320"/>
            <a:ext cx="11247120" cy="6400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كل قطاع يحصل على: لوائح خاصة  ·  مصطلحات متخصصة  ·  معايير صناعية  ·  سياق تشغيلي دقيق — يجعل مخرجات الذكاء الاصطناعي واقعية وقابلة للتطبيق الفوري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البنية التقنية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Technology Stack — Enterprise-Grade, Scalable, 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3749039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6400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55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Next.js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945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Arial"/>
              </a:rPr>
              <a:t>الواجهة الأمامية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App Router + Server Components
TypeScript · Tailwind CSS · Shadcn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57276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572768"/>
            <a:ext cx="3749039" cy="109728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801368"/>
            <a:ext cx="640080" cy="640080"/>
          </a:xfrm>
          <a:prstGeom prst="rect">
            <a:avLst/>
          </a:prstGeom>
          <a:solidFill>
            <a:srgbClr val="108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196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755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1945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8048"/>
                </a:solidFill>
                <a:latin typeface="Arial"/>
              </a:rPr>
              <a:t>قاعدة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6517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PostgreSQL + Row Level Security
Storage (Signed URLs) · Real-time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157276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8744" y="1572768"/>
            <a:ext cx="3749039" cy="109728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75904" y="1801368"/>
            <a:ext cx="640080" cy="64008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181965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7556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Clerk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19456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D8"/>
                </a:solidFill>
                <a:latin typeface="Arial"/>
              </a:rPr>
              <a:t>المصادقة والهوية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6517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Enterprise SSO + MFA
Webhooks · Session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4164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041648"/>
            <a:ext cx="3749039" cy="109728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70248"/>
            <a:ext cx="640080" cy="64008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88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2245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Anthropic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6634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0BFF"/>
                </a:solidFill>
                <a:latin typeface="Arial"/>
              </a:rPr>
              <a:t>الذكاء الاصطناعي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Claude Sonnet 4.6
Streaming · JSON Mode · 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404164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4041648"/>
            <a:ext cx="3749039" cy="109728"/>
          </a:xfrm>
          <a:prstGeom prst="rect">
            <a:avLst/>
          </a:prstGeom>
          <a:solidFill>
            <a:srgbClr val="63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16552" y="4270248"/>
            <a:ext cx="640080" cy="640080"/>
          </a:xfrm>
          <a:prstGeom prst="rect">
            <a:avLst/>
          </a:prstGeom>
          <a:solidFill>
            <a:srgbClr val="63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2" y="4288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3792" y="42245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Stripe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93792" y="46634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59F8"/>
                </a:solidFill>
                <a:latin typeface="Arial"/>
              </a:rPr>
              <a:t>المدفوعات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51206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Subscriptions + Webhooks
Sandbox → Production ready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4041648"/>
            <a:ext cx="374903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38744" y="4041648"/>
            <a:ext cx="3749039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75904" y="4270248"/>
            <a:ext cx="6400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75904" y="428853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422452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Vercel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66344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Arial"/>
              </a:rPr>
              <a:t>الاستضافة والنشر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12064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 Light"/>
              </a:rPr>
              <a:t>Edge Network · CI/CD
Auto-scaling · Zero downtime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الأمان والخصوصية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Security Architecture — Enterprise-Grade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39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73351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الشبكة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Network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HTTPS/TLS 1.3 — تشفير 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HSTS — إجبار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Content Security Policy (CSP)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11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X-Frame-Options: DENY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50876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39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1673351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المصادقة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05740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Auth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Clerk Enterprise Auth — MFA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163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JWT Tokens — انتهاء صلاحية تلقائي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6382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Protected Routes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11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Session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793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البيانات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6344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Row Level Security (RLS) — Supabase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223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كل مستخدم يرى بياناته فقط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698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Signed URLs للملفات (مؤقتة)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173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Input Validation شاملة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114800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29768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2793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طبقة التطبيق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4663440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17"/>
                </a:solidFill>
                <a:latin typeface="Calibri Light"/>
              </a:rPr>
              <a:t>App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749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Rate Limiting: 10 AI reqs/min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223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20 مشاريع/ساعة · 30 تحميل/دقيقة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7698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API Route Guards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61173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Error Boundaries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خطط الأسعار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Transparent Pricing — Start Free, Scale as You Grow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834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8346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4748B"/>
                </a:solidFill>
                <a:latin typeface="Arial Black"/>
              </a:rPr>
              <a:t>مجاني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4748B"/>
                </a:solidFill>
                <a:latin typeface="Arial Black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/شهر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3 مشاريع نشطة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5 مخرجات/شهر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وثائق PDF فقط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دعم مجتمعي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— 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—  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2834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508760"/>
            <a:ext cx="283464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4FD8"/>
                </a:solidFill>
                <a:latin typeface="Arial Black"/>
              </a:rPr>
              <a:t>ابتدائي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Starter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4FD8"/>
                </a:solidFill>
                <a:latin typeface="Arial Black"/>
              </a:rPr>
              <a:t>$29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/شهر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10 مشاريع نشطة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50 مخرجاً/شهر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PDF + Word + 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دعم بريد إلكتروني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حوكمة متقدمة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Arial"/>
              </a:rPr>
              <a:t>—  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508760"/>
            <a:ext cx="2834640" cy="5029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508760"/>
            <a:ext cx="2834640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1188719"/>
            <a:ext cx="1920240" cy="34747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21615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Arial"/>
              </a:rPr>
              <a:t>الأكثر شعبية 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احترافي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 Light"/>
              </a:rPr>
              <a:t>Professional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$79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/شهر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مشاريع غير محدودة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مخرجات غير محدودة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كل الصيغ + PPTX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دعم ذو أولوية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تحليلات متقدمة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تصدير بيانات كامل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1508760"/>
            <a:ext cx="283464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1508760"/>
            <a:ext cx="283464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167335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A017"/>
                </a:solidFill>
                <a:latin typeface="Arial Black"/>
              </a:rPr>
              <a:t>مؤسسي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2084831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 Light"/>
              </a:rPr>
              <a:t>Enterprise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4688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$199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172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/شهر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8592" y="3611879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فِرَق متعددة (قريباً)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SSO + SAML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8592" y="43799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API مخصصة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4764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مدير حساب مخصص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51480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SLA مضمون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553212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Arial"/>
              </a:rPr>
              <a:t>✓  تقارير مخصصة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فرصة السوق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Market Opportunity — Saudi Arabia &amp; GCC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$6.6B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حجم سوق PM السعودي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Saudi PM Software Market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معدل النمو السنوي (CAGR)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Annual Growth Rate (CAGR)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500K+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مدير مشروع نشط في السعودية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Active PMs in Saudi Arabia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08760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26974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73351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4A017"/>
                </a:solidFill>
                <a:latin typeface="Arial Black"/>
              </a:rPr>
              <a:t>$1.3T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688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حجم مشاريع رؤية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25496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Vision 2030 Project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520440"/>
            <a:ext cx="11338560" cy="3154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017"/>
                </a:solidFill>
                <a:latin typeface="Arial"/>
              </a:rPr>
              <a:t>🇸🇦  انسجام مع رؤية المملكة 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• 🏗️ التنويع الاقتصادي: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480559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وضوح يخدم 23 قطاعاً تشمل كل القطاعات التي تركّز عليها رؤية 2030
من التقنية إلى السياحة والترفيه والطاقة المتجددة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10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• 📊 رفع كفاءة المشاريع: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85231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أحد أهداف رؤية 2030 رفع كفاءة تنفيذ المشاريع الحكومية
وضوح يوفر أدوات PMI احترافية للجهات الحكومية بتكلفة منخفضة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155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• 💡 التحول الرقمي: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089903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رؤية 2030 تدفع نحو التحول الرقمي في كل القطاعات
وضوح هو الحل الرقمي المحلي الأول لإدارة المشاريع بالعربية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نموذج الأعمال والإيرادات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Business Model &amp; Revenue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09728" cy="1143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اشتراكات شهرية / سنوية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482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SaaS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459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النموذج الأساسي: خطط Starter ($29) · Professional ($79) · Enterprise ($199)
إيراد متكرر ومتوقع مع نمو مرتبط بعدد العملاء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39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34639"/>
            <a:ext cx="109728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906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26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باقات الشركات والمؤسسات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0127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  <a:latin typeface="Calibri Light"/>
              </a:rPr>
              <a:t>Enterprise &amp; Corporate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07791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عقود سنوية للشركات الكبيرة مع مقاعد متعددة (Task 22)
تخصيص وتدريب وأولوية الدعم — عائد أعلى بكثير لكل عميل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96511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1"/>
            <a:ext cx="109728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5254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8795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الشراكات الحكومية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4A017"/>
                </a:solidFill>
                <a:latin typeface="Calibri Light"/>
              </a:rPr>
              <a:t>Government Partnerships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69663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تراخيص مؤسسية للجهات الحكومية والمؤسسات الحكومية السعودية
إمكانية حصة مقطوعة (لا اشتراك شهري) مع دعم مخصص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58383"/>
            <a:ext cx="11430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58383"/>
            <a:ext cx="10972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144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49823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التدريب والشهادات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3387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Calibri Light"/>
              </a:rPr>
              <a:t>Training &amp; Certification Programs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431536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برامج تدريبية لإدارة المشاريع مرتبطة بالمنصة
شراكة محتملة مع PMI Saudi Chapter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هدف السنة الأولى: 200 عميل مدفوع  ·  ARR: ~$200K  |  السنة الثانية: 1000 عميل  ·  ARR: ~$1M  |  السنة الخامسة: 10,000 عميل  ·  ARR: ~$10M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المستخدم المستهدف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Target User Personas — Who Benefits Most from Wuduh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033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70332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مدير المشروع المستقل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07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B4FD8"/>
                </a:solidFill>
                <a:latin typeface="Calibri Light"/>
              </a:rPr>
              <a:t>Independent PM / Freelancer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مستشار أو مقاول مستقل يُنجز 5-20 مشروعاً سنوياً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يوفر 60%+ من وقت إعداد الوثائق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يُقدّم وثائق احترافية للعملاء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457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يلتزم بمعايير PMI دون خبرة مسبقة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97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باقة Starter كافية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37033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417320"/>
            <a:ext cx="37033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00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317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مدير مشاريع في شركة متوسطة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07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4A017"/>
                </a:solidFill>
                <a:latin typeface="Calibri Light"/>
              </a:rPr>
              <a:t>PM in Mid-size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278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شركات 50-500 موظف في القطاع الخاص السعودي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توحيد وثائق المشاريع عبر الفِرَق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361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توفير تكاليف الاستشارات الخارجية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7457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PMBOK compliance تلقائي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1297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باقة Professional مثالية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0332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17320"/>
            <a:ext cx="3703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6002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Calibri"/>
              </a:rPr>
              <a:t>🏛️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33172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مدير مشاريع حكومي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0720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0B981"/>
                </a:solidFill>
                <a:latin typeface="Calibri Light"/>
              </a:rPr>
              <a:t>Government Project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2783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جهات حكومية ومؤسسات شبه حكومية وشركات مملوكة للدولة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7763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التوثيق الرسمي وفق المعايير الدولية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3616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تقارير جاهزة للمسؤولين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4573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دعم مناقصات ومشاريع رؤية 2030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2978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✓  باقة Enterprise / حكومية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الميزة التنافسية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Why Wuduh? Competitive Positioning vs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2926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6184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الميزة / 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72768"/>
            <a:ext cx="1828800" cy="5029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وضوح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653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Wuduh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572768"/>
            <a:ext cx="18288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Arial"/>
              </a:rPr>
              <a:t>Microsoft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572768"/>
            <a:ext cx="18288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618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Arial"/>
              </a:rPr>
              <a:t>Monday.com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572768"/>
            <a:ext cx="329184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618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Arial"/>
              </a:rPr>
              <a:t>استشارات تقليدية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8653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 Light"/>
              </a:rPr>
              <a:t>Consultants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75688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1488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باللغة العربية كاملاً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75688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1488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2075688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9512" y="21488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075688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21488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جزئياً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075688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21488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يعتمد على الاستشاري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06040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267919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PMBOK 7 مُدمج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606040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26791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60604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9512" y="26791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2606040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267919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2606040"/>
            <a:ext cx="32918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2" y="26791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 (بتكلفة عالية)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136391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209544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ذكاء اصطناعي لتوليد الوثائق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3136391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992" y="32095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3136391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9512" y="32095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136391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32095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3136391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8552" y="32095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666744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3739896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25+ وثيقة بكل الصيغ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3666744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64992" y="373989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66360" y="3666744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9512" y="373989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محدود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3666744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373989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3666744"/>
            <a:ext cx="32918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373989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 (بتكلفة عالية)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97096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42702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سياق قطاعي خاص (23 قطاع)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4197096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64992" y="4270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66360" y="4197096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39512" y="4270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80" y="4197096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14032" y="42702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15400" y="4197096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42702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جزئياً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727448"/>
            <a:ext cx="292608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" y="48006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سعر مناسب ($29-$199/شهر)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91840" y="4727448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64992" y="48006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6360" y="4727448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9512" y="48006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غالي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0880" y="4727448"/>
            <a:ext cx="182880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14032" y="480060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Arial"/>
              </a:rPr>
              <a:t>متوسط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15400" y="4727448"/>
            <a:ext cx="32918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480060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 (آلاف الريالات)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257800"/>
            <a:ext cx="29260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5330952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لا تثبيت — SaaS سحابي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1840" y="5257800"/>
            <a:ext cx="1828800" cy="502920"/>
          </a:xfrm>
          <a:prstGeom prst="rect">
            <a:avLst/>
          </a:prstGeom>
          <a:solidFill>
            <a:srgbClr val="F0F7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64992" y="5330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66360" y="52578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39512" y="5330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0880" y="52578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14032" y="533095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Arial"/>
              </a:rPr>
              <a:t>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15400" y="525780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533095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Arial"/>
              </a:rPr>
              <a:t>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خارطة الطريق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Product Roadmap 2026 — 2028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الإطلاق /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المنصة الأساسية جاهزة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23 قطاعاً مدعوماً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25+ وثيقة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✅ الأمان والأداء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🔜 إضافة $5 للـ Anthropic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🔜 إطلاق مدفوع رسمياً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481328"/>
            <a:ext cx="2697480" cy="5029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النمو /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📱 تطبيق جوال (iOS / Android)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🤝 التكاملات (Jira, Notion, MS Project)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👥 أدوات الفريق (تعليقات، مهام)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📊 لوحة تحليلات متقدمة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🌍 دعم متعدد اللغات (EN+AR)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💬 دعم العملاء المباشر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481328"/>
            <a:ext cx="2697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المؤسسات / Enterprise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🏢 Task 22: Multi-tenant (الأقسام)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🔒 SSO + SAML للمؤسسات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📋 قوالب مشاريع مخصصة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⚙️ API للتكامل المؤسسي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🏛️ باقات حكومية مخصصة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📈 تقارير مؤسسية متقدمة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1481328"/>
            <a:ext cx="2697480" cy="502920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2027+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التوسع / Expansion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984248"/>
            <a:ext cx="26974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22311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🌍 التوسع لدول الخليج والعالم العربي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77977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🤖 نماذج ذكاء اصطناعي مخصصة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332841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🏆 شراكة PMI Saudi Chapter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38770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📚 أكاديمية وضوح للتدريب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442569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🔗 Marketplace للإضافات والقوالب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497433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🚀 Series A Funding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1600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rial Black"/>
              </a:rPr>
              <a:t>ميزة المؤسسات: إدارة الأقسام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  <a:latin typeface="Calibri Light"/>
              </a:rPr>
              <a:t>Enterprise Multi-Tenant Feature (Task 22) — Coming Q4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0352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البنية المعمارية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212848"/>
            <a:ext cx="18288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25856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🏢  المؤسسة / Organization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52928"/>
            <a:ext cx="1645920" cy="36576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986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🏗️  قسم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852928"/>
            <a:ext cx="1645920" cy="36576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8986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🏗️  قسم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3716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429000"/>
            <a:ext cx="13716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29000"/>
            <a:ext cx="137160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429000"/>
            <a:ext cx="109728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4747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👤  عضو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├── كل قسم: مشاريعه الخاصة + أعضاؤه المحددون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15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├── عزل بيانات تام بين الأقسام (Row Level Security)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542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├── المدير يرى كل الأقسام · الأعضاء يرون قسمهم فقط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92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└── فوترة موحدة للمؤسسة + تقارير مجمّعة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50876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508760"/>
            <a:ext cx="58521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62763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Arial"/>
              </a:rPr>
              <a:t>حالات الاستخدام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148840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شركات المقاولات الكبيرة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62432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قسم للمشاريع السكنية، قسم للتجارية
قسم للبنية التحتية — كل بميزانيته وفريقه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355848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584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4472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البنوك والمؤسسات المالية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31335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قسم مشاريع IT، قسم امتثال، قسم عمليات
عزل تام لبيانات كل قسم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562856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7914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🏛️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65429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الجهات الحكومية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03834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وزارة بأقسامها المختلفة: التخطيط، التنفيذ
المتابعة والرقابة — تحت مظلة واحدة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5769864"/>
            <a:ext cx="5852160" cy="1097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998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86130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المجموعات الصحية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624535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rial"/>
              </a:rPr>
              <a:t>مستشفى 1، مستشفى 2، المراكز الصحية
تقارير موحدة للمجموعة مع خصوصية كل وحدة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استراتيجية الإطلاق والنمو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Go-to-Market Strategy — Phase by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57784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التسويق الرقمي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6654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4FD8"/>
                </a:solidFill>
                <a:latin typeface="Calibri Light"/>
              </a:rPr>
              <a:t>Digital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LinkedIn · Twitter · YouTube
محتوى تعليمي عن PMBOK وإدارة المشاريع
SEO باللغة العربية — كلمات مفتاحية عالية القيمة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8132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81328"/>
            <a:ext cx="557784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164592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الشراكات المهنية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06654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4A017"/>
                </a:solidFill>
                <a:latin typeface="Calibri Light"/>
              </a:rPr>
              <a:t>Professional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PMI Saudi Arabia Chapter
جمعيات المقاولين والمهندسين السعوديين
برامج شراكة مع موردي PMO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8736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87368"/>
            <a:ext cx="55778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7024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القطاع الحكومي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7258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Calibri Light"/>
              </a:rPr>
              <a:t>Government Sector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9320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عروض مباشرة لوزارات رؤية 2030
المشاركة في منتديات المشاريع الحكومية
برنامج تجريبي مجاني للجهات الحكومية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4087368"/>
            <a:ext cx="557784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4087368"/>
            <a:ext cx="5577840" cy="91440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70248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latin typeface="Calibr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425196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التسويق بالمحتوى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4672584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55FF"/>
                </a:solidFill>
                <a:latin typeface="Calibri Light"/>
              </a:rPr>
              <a:t>Content Marketing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93208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قوالب PMBOK مجانية لاستقطاب العملاء
ندوات إلكترونية شهرية عن إدارة المشاريع
بودكاست عربي عن إدارة المشاريع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مؤشرات النجاح والأهداف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  <a:latin typeface="Calibri Light"/>
              </a:rPr>
              <a:t>KPIs &amp; Success Metrics — Year 1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749039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4FD8"/>
                </a:solidFill>
                <a:latin typeface="Arial Black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عميل مدفوع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Paid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D8"/>
                </a:solidFill>
                <a:latin typeface="Calibri"/>
              </a:rPr>
              <a:t>الهدف: نهاية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727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72768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Arial Black"/>
              </a:rPr>
              <a:t>$200K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ARR سنوي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Annual Recurring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السنة الأولى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5727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72768"/>
            <a:ext cx="3749039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4.5+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90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تقييم رضا العملاء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10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Customer Satisfaction (NPS)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NPS ≥ 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873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087368"/>
            <a:ext cx="3749039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70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B4FD8"/>
                </a:solidFill>
                <a:latin typeface="Arial Black"/>
              </a:rPr>
              <a:t>10K+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04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وثيقة مولّدة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247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Documents Generated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D8"/>
                </a:solidFill>
                <a:latin typeface="Calibri"/>
              </a:rPr>
              <a:t>في أول 6 أشهر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0873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087368"/>
            <a:ext cx="374903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270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Arial Black"/>
              </a:rPr>
              <a:t>&lt;5%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504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معدل إلغاء الاشتراك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8247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Churn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الهدف الشهري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87368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4087368"/>
            <a:ext cx="3749039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2702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818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017"/>
                </a:solidFill>
                <a:latin typeface="Arial Black"/>
              </a:rPr>
              <a:t>&lt;2s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504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Arial"/>
              </a:rPr>
              <a:t>سرعة التوليد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8247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 Light"/>
              </a:rPr>
              <a:t>Generation Speed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وقت الاستجابة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ما نحتاجه للانطلاق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What We Need — Partnership &amp; Investment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703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3703320" cy="9144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استثمار أولي / Seed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لتمويل التسويق والنمو في السنة الأولى
المنصة جاهزة تقنياً — نحتاج وقود التوسع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تسويق رقمي مكثف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35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فريق دعم عملاء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47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بنية تحتية للنمو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59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حوافز للمستخدمين الأوائل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481328"/>
            <a:ext cx="3703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81328"/>
            <a:ext cx="370332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6420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شراكات استراتيجية / Strategic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0815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شركاء لتوسيع القاعدة والمصداقية
وزارات · شركات · جمعيات مهنية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PMI Saudi Chapter — اعتماد رسمي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35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وزارات رؤية 2030 — عقود حكومية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47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شركات ERP كـ Oracle/SAP — تكاملات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559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مراكز تدريب PM — قنوات توزيع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1481328"/>
            <a:ext cx="3703320" cy="5166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481328"/>
            <a:ext cx="3703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664208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3774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عملاء مرجعيون / Reference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08152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rial"/>
              </a:rPr>
              <a:t>نحتاج 10-20 عميلاً مؤسسياً في البداية
مقابل تجربة مجانية وتغذية راجعة معمّقة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2336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شركات مقاولات كبيرة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35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جهات حكومية رائدة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04748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مجموعات صحية أو تعليمية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559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→  شركات تقنية ناشئة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0" y="731520"/>
            <a:ext cx="2560320" cy="2560320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77724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Arial"/>
              </a:rPr>
              <a:t>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وضوح | Wuduh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4A017"/>
                </a:solidFill>
                <a:latin typeface="Arial"/>
              </a:rPr>
              <a:t>منصة إدارة المشاريع الأولى في المملكة المدعومة بالذكاء الاصطناعي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73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 Light"/>
              </a:rPr>
              <a:t>The Kingdom's First AI-Powered Project Management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349240"/>
            <a:ext cx="5788152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📧  info@nailart.sa  ·  🌐  wuduh.sa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 Light"/>
              </a:rPr>
              <a:t>PMBOK® is a registered trademark of PMI®. Wuduh is an independent product and is not affiliated with PMI.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60196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2026 · جميع الحقوق محفوظة · وضوح | Wuduh · وضوح يبني · PMBOK® Guide 7th Edition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هوية الشركة والعلامة التجارية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Company Branding &amp; Identity  ·  Professional &amp; Enterprise Plans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201168"/>
            <a:ext cx="2377440" cy="4754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2860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Arial"/>
              </a:rPr>
              <a:t>احترافي + مؤسسي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486400" cy="7315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ما يمكن تخصيصه في لوحة التحكم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52120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41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🖼️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317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شعار الشركة (Logo)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97480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رفع الشعار بصيغة PNG/SVG
يظهر تلقائياً في كل الوثائق المولّدة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55848"/>
            <a:ext cx="52120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570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4728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الترويسة الرسمية (Letterhead)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13048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رفع قالب الورق الرسمي للشركة
يُستخدم كخلفية لوثائق Word و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71416"/>
            <a:ext cx="52120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7258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62855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ألوان الشركة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928616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تحديد اللون الرئيسي والثانوي
تنعكس الألوان على البريزنتيشن والوثائق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86983"/>
            <a:ext cx="52120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8815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678423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معلومات المنشأة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6044183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الاسم التجاري · العنوان · الهاتف
البريد · الموقع · الرقم التجاري (اختياري)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60020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600200"/>
            <a:ext cx="566928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7190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Arial"/>
              </a:rPr>
              <a:t>كيف تظهر في الوثائق المولّدة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240280"/>
            <a:ext cx="539496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4414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233172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D8"/>
                </a:solidFill>
                <a:latin typeface="Arial"/>
              </a:rPr>
              <a:t>Word (.docx)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69748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شعار الشركة في رأس الصفحة
ترويسة رسمية كخلفية · معلومات المنشأة
في الفوتر والغلاف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355848"/>
            <a:ext cx="539496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55701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344728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D8"/>
                </a:solidFill>
                <a:latin typeface="Arial"/>
              </a:rPr>
              <a:t>Excel (.xlsx)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381304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شعار في خلية الرأس
ألوان الشركة للجداول والرسوم البيانية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471416"/>
            <a:ext cx="539496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67258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🎞️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562855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D8"/>
                </a:solidFill>
                <a:latin typeface="Arial"/>
              </a:rPr>
              <a:t>PowerPoint (.pptx)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4928616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شعار في كل شريحة
ألوان الشركة للعناوين والخلفيات
معلومات المنشأة في شريحة الغلاف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586983"/>
            <a:ext cx="539496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578815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5678423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D8"/>
                </a:solidFill>
                <a:latin typeface="Arial"/>
              </a:rPr>
              <a:t>PDF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6044183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ترويسة + تذييل بمعلومات الشركة
شعار في كل صفحة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510528"/>
            <a:ext cx="114300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4FD8"/>
                </a:solidFill>
                <a:latin typeface="Arial"/>
              </a:rPr>
              <a:t>⚙️  إضافة معلومات المنشأة للوثائق اختياري — يتحكم المستخدم بتفعيله من إعدادات كل مشروع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نماذج الوثائق المحفوظة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A017"/>
                </a:solidFill>
                <a:latin typeface="Calibri Light"/>
              </a:rPr>
              <a:t>Saved Document Templates  ·  Choose a template before AI generates your 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201168"/>
            <a:ext cx="2377440" cy="475488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2860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احترافي + مؤسسي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2697480" cy="50292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الخطوة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اعتماد الأجندة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84248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139696"/>
            <a:ext cx="24871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بعد مراجعة الأجندة
تضغط 'توليد الوثائق'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5000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481328"/>
            <a:ext cx="2697480" cy="50292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الخطوة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اختيار نموذج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984248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2139696"/>
            <a:ext cx="24871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تختار من نماذجك المحفوظة
أو نماذج وضوح الافتراضية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35000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81328"/>
            <a:ext cx="2697480" cy="50292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الخطوة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الذكاء الاصطناعي يبني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984248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139696"/>
            <a:ext cx="24871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يبني كل الوثائق
بناءً على النموذج المختار
+ بيانات مشروعك + هوية شركتك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350008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481328"/>
            <a:ext cx="2697480" cy="502920"/>
          </a:xfrm>
          <a:prstGeom prst="rect">
            <a:avLst/>
          </a:prstGeom>
          <a:solidFill>
            <a:srgbClr val="700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52704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الخطوة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7556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تحميل فوري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984248"/>
            <a:ext cx="269748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2139696"/>
            <a:ext cx="248716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25+ وثيقة جاهزة
بتصميم موحّد واحترافي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05072"/>
            <a:ext cx="11247120" cy="2633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965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أنواع النماذج المتاحة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553712"/>
            <a:ext cx="3566160" cy="1965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553712"/>
            <a:ext cx="3566160" cy="73152"/>
          </a:xfrm>
          <a:prstGeom prst="rect">
            <a:avLst/>
          </a:prstGeom>
          <a:solidFill>
            <a:srgbClr val="1B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1830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🏛️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2" y="4690872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D8"/>
                </a:solidFill>
                <a:latin typeface="Arial"/>
              </a:rPr>
              <a:t>نماذج وضوح الافتراضية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03520"/>
            <a:ext cx="33101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مجموعة نماذج احترافية جاهزة من وضوح
مصممة لكل قطاع من القطاعات الـ 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5112" y="4553712"/>
            <a:ext cx="3566160" cy="1965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5112" y="4553712"/>
            <a:ext cx="356616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71830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9784" y="4690872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Arial"/>
              </a:rPr>
              <a:t>نماذج الشركة المخصصة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5303520"/>
            <a:ext cx="33101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أنشئ نموذجك الخاص وأضف توجيهاتك
يحفظها الذكاء الاصطناعي ويستخدمها تلقائياً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5864" y="4553712"/>
            <a:ext cx="3566160" cy="1965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55864" y="4553712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3024" y="471830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0536" y="4690872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Arial"/>
              </a:rPr>
              <a:t>نماذج المؤسسة المشتركة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5303520"/>
            <a:ext cx="33101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نماذج يشاركها مدير الحساب مع كل الأقسام
تضمن توحيد التوثيق عبر المؤسسة كاملاً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