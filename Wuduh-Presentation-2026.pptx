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097280" cy="10972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وضوح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4A017"/>
                </a:solidFill>
                <a:latin typeface="Calibri Light"/>
              </a:rPr>
              <a:t>Wuduh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منصة إدارة المشاريع المدعومة بالذكاء الاصطناعي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 Light"/>
              </a:rPr>
              <a:t>AI-Powered Project Management Platform  ·  PMBOK® Guide 7th Edition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343400"/>
            <a:ext cx="5486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مُعدّ للعرض أمام الشركات والجهات الحكومية  |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5943600"/>
            <a:ext cx="228600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5971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🇸🇦  رؤية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جدول المحتويات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المشكلة والفرصة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019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The Problem &amp;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الحل: منصة وضوح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The Solution: Wuduh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0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الأساس المعياري (PMBOK)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PMI/PMBOK® Foundation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ميزات المنصة والذكاء الاصطناعي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Platform Features &amp; AI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القطاعات المدعومة (23 قطاع)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25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23 Supported Industries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46304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5544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البنية التقنية والأمان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9019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Tech Stack &amp;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46888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46888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5603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خطط الأسعار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907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Pricing Plans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47472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47472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5661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20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فرصة السوق ونموذج الأعمال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Market Opportunity &amp; Business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48056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48056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5720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526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خارطة الطريق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Product Roadmap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48640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48640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5778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532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الميزة التنافسية والدعوة للعمل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925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Competitive Edge &amp;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المشكلة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A017"/>
                </a:solidFill>
                <a:latin typeface="Calibri Light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هدر الوقت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مديرو المشاريع يقضون 40%+ من وقتهم في إعداد الوثائق يدوياً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40%+ of PM time spent on manual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645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غياب المعايير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معظم الشركات لا تتبع معايير PMBOK أو PMI بشكل منهجي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Most firms lack systematic PMI/PMBOK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تكاليف باهظة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الاستشاريون والبرمجيات التقليدية تكلف آلاف الريالات شهرياً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Traditional consultants &amp; tools cost thousands monthly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931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فجوة اللغة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لا توجد منصة PM احترافية باللغة العربية تفهم السوق السعودي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No professional Arabic PM platform for the Saudi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الحل: منصة وضوح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AI-Powered Project Management — Built for Saudi Arabia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وضوح يحوّل بيانات مشروعك إلى خطة PMI متكاملة في دقائق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ذكاء اصطناعي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Claude AI يولّد الأجندة
وخطة المخاطر والـ WBS
وفق PMBOK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Claude AI generates agenda,
risk register &amp; WBS
per PMBOK 7th Edition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25+ وثيقة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PDF · Word · Excel · PowerPoint
جاهزة للطباعة والتسليم
بضغطة واحدة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25+ project documents
PDF, Word, Excel, PowerPoint
ready in one click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23 قطاعاً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من النفط والغاز للتقنية
والرعاية الصحية والحكومة
بسياق خاص لكل قطاع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Oil &amp; gas to tech to healthcare
Government &amp; construction
Sector-specific AI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الأساس المعياري الدولي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Built on PMI PMBOK® Guide — 7th Edition (The Global Standard for Project Management)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مبادئ PMBOK 7 المُطبّقة في وضوح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إشراك أصحاب المصلحة (Stakeholder Engagement)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9191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426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التركيز على نتائج الأعمال (Outcomes Focus)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3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التسليم بالقيمة المستمرة (Value Delivery)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5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إدارة المخاطر الاستباقية (Proactive Risk Mgmt)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21607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التكيّف والمرونة (Adaptability &amp; Resilience)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79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تمكين الفريق وقيادته (Team Empowerment)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الحوكمة والرقابة (Governance &amp; Oversight)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64023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2744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التحسين المستمر (Continuous Improvement)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55448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554480"/>
            <a:ext cx="57607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مجالات الأداء المدعومة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331720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35915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📊 أصحاب المصلحة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3865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Stakeholders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724912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7523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👥 الفريق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7797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Team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18104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145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🔄 نهج التطوير والدورة الحياتية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1729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Development Approach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511296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5387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📋 التخطيط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5661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Planning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904488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⚙️ العمل المشروعي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959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Project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297680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📦 التسليم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3525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Delivery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690872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7183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📈 القياس والتقييم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745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Measurement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084064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1114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⚠️ عدم اليقين والمخاطر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51389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كيف يعمل وضوح؟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From Project Brief to Full PMI Documentation in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أدخل بيانات مشروعك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Input Project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اسم المشروع، القطاع، الميزانية
الفريق، المدة، الأهداف، القيود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Project name, industry, budget
Team size, timeline,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690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وضوح يبني الأجندة بالذكاء الاصطناعي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AI Builds Your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Claude AI يحلّل بياناتك ويولّد:
المراحل · المهام · المخاطر · KPIs
وفق PMBOK 7 + سياق قطاعك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Claude AI analyzes &amp; generates:
Phases, tasks, risks, KPIs
Per PMBOK 7 + sector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690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اعتمد وحمّل وثائقك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Approve &amp;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راجع الأجندة، أضف ملاحظاتك
اعتمد واستلم 25+ وثيقة
PDF · Word · Excel · PowerPoint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Review agenda, add notes
Approve &amp; receive 25+ docs
PDF, Word, Excel, PowerPoint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ميزات المنصة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Platform Features — What Wuduh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توليد أجندة ذكية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AI-Generated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أجندة مشروع متكاملة بالمراحل
والمهام والمسؤوليات تلقائياً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سجل المخاطر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Risk 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تحليل المخاطر وخطط التخفيف
وفق معايير PMI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هيكل تقسيم العمل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Work Breakdown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WBS تفصيلية جاهزة للاستيراد
في أدوات PM المعتادة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الجداول الزمنية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Gantt &amp; Schedules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مخطط جانت وجداول المعالم
بصيغ Excel و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الميزانية والتكاليف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Budget &amp; Cost Estimates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تقديرات تكلفة وميزانيات
بصيغ Excel قابلة للتعديل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إدارة أصحاب المصلحة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Stakeholder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سجل أصحاب المصلحة وخطة
التواصل والمتابعة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تقارير الحالة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Status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تقارير دورية احترافية
جاهزة للرفع للإدارة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مؤشرات النجاح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KPIs &amp; Success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KPIs مُعرّفة قابلة للقياس
مرتبطة بأهداف المشروع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38744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4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تحكم بالوصول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0264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Access Control &amp;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0264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Rate limiting + Security headers
CSP + HSTS + RLS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محرك الذكاء الاصطناعي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AI Engine — Powered by Anthropic Claude Sonnet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3891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Anthropic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4A017"/>
                </a:solidFill>
                <a:latin typeface="Calibri Light"/>
              </a:rPr>
              <a:t>claude-sonnet-4-6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State-of-the-art language model
for project management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50876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6916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7335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توليد الأجندة المشروعية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25856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يحلّل معطيات المشروع ويبني خطة PMBOK كاملة
مع مراحل ومهام وجداول زمنية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416052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325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تحليل المخاطر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91032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يرصد المخاطر المحتملة ويعطي درجة خطورة
ويقترح خطة تخفيف لكل خطر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50876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67335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السياق القطاعي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5856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23 قطاعاً بسياق خاص: لوائح، معايير، مصطلحات
تجعل المخرجات دقيقة لكل صناعة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416052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325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توليد الوثائق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91032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25+ وثيقة مشروع احترافية
بصيغ PDF وWord وExcel وPowerPoint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11338560" cy="548640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⚠️  تنبيه قانوني: مخرجات الذكاء الاصطناعي تتطلب مراجعة بشرية من متخصص معتمد قبل الاستخدام الرسمي. وضوح لا يتحمل مسؤولية القرارات المبنية عليها دون مراجعة.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92040"/>
            <a:ext cx="1133856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آليات الحماية والجودة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Rate Limiting: 10 طلبات ذكاء اصطناعي/دقيقة لكل مستخدم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Input Validation: تحقق كامل من مدخلات المشروع قبل الإرسال للذكاء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AI Logging: تسجيل كامل لكل طلب في قاعدة البيانات لمراقبة الجودة والتكلفة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Graceful Fallback: رسائل خطأ واضحة عند فشل التوليد مع خيار إعادة المحاولة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25+ وثيقة مشروع احترافية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Professional Project Deliverables — Generated by AI, Ready to 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7315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وثائق التخطيط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Planning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ميثاق المشروع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42615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المشروع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799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بيان النطاق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3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246119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هيكل WBS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7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57530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سجل أصحاب المصلحة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1508760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508760"/>
            <a:ext cx="3749039" cy="73152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الجداول الزمنية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Schedules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2313432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مخطط جانت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2642615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جدول المشروع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2971799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مخطط المعالم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508760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508760"/>
            <a:ext cx="3749039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الموارد والميزانية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Resources &amp; Budget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2313432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الموارد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642615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الميزانية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2971799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6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تقديرات التكاليف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31920"/>
            <a:ext cx="3749039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931920"/>
            <a:ext cx="3749039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المخاطر والجودة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3525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Risk &amp; Quality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736592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681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سجل المخاطر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65776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010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الاستجابة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94960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534009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الجودة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24144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56692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قائمة التحقق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9392" y="3236975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79392" y="3236975"/>
            <a:ext cx="3749039" cy="73152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16552" y="33467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التواصل والتقارير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16552" y="36575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Communication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16552" y="4041647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398678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التواصل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16552" y="4370831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43159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تقرير الحالة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16552" y="4700016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46451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محضر الاجتماع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38744" y="3236975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38744" y="3236975"/>
            <a:ext cx="3749039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33467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العروض التقديمية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5904" y="36575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Presentations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75904" y="4041647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86216" y="398678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الانطلاق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75904" y="4370831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86216" y="43159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أصحاب المصلحة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75904" y="4700016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86216" y="46451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التقدم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6007608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6007608"/>
            <a:ext cx="3749039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117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إغلاق المشروع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428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Project Closure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812280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" y="675741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تقرير الإغلاق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7141464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7512" y="70866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الدروس المستفادة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7470648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74157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قائمة الإغلاق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6355080"/>
            <a:ext cx="115214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382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الصيغ المتاحة: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20240" y="6428232"/>
            <a:ext cx="10972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8483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PDF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7680" y="6428232"/>
            <a:ext cx="109728" cy="20116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6227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Word (.docx)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6428232"/>
            <a:ext cx="109728" cy="201168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3971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Excel (.xlsx)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52560" y="6428232"/>
            <a:ext cx="10972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1715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PowerPoint (.pptx)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23 قطاعاً مدعوماً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23 Supported Industries — Sector-Specific AI Context for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المقاولات والإنشاء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التقنية والبرمجيات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5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79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الرعاية الصحية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التصنيع والصناعة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التعليم والتدريب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التجزئة والتجارة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7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المالية والبنوك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5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79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الجهات الحكومية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الطاقة والكهرباء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🛢️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النفط والغاز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النقل والمواصلات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7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اللوجستيات والشحن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5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79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الضيافة والفنادق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1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✈️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السياحة والترفيه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العقارات والتطوير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الاتصالات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3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7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الإعلام والنشر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635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779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الزراعة والغذاء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1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🛡️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59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الدفاع والأمن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⚖️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الخدمات القانونية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الاستشارات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39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26079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2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المنظمات غير الربحية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59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57799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قطاعات أخرى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989320"/>
            <a:ext cx="1124712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كل قطاع يحصل على: لوائح خاصة  ·  مصطلحات متخصصة  ·  معايير صناعية  ·  سياق تشغيلي دقيق — يجعل مخرجات الذكاء الاصطناعي واقعية وقابلة للتطبيق الفوري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البنية التقنية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Technology Stack — Enterprise-Grade, Scalable,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3749039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6400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Next.js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الواجهة الأمامية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App Router + Server Components
TypeScript · Tailwind CSS · Shadcn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572768"/>
            <a:ext cx="3749039" cy="109728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801368"/>
            <a:ext cx="640080" cy="640080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8048"/>
                </a:solidFill>
                <a:latin typeface="Arial"/>
              </a:rPr>
              <a:t>قاعدة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PostgreSQL + Row Level Security
Storage (Signed URLs) ·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8744" y="1572768"/>
            <a:ext cx="3749039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5904" y="1801368"/>
            <a:ext cx="64008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Clerk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D8"/>
                </a:solidFill>
                <a:latin typeface="Arial"/>
              </a:rPr>
              <a:t>المصادقة والهوية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Enterprise SSO + MFA
Webhooks · Session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041648"/>
            <a:ext cx="3749039" cy="109728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70248"/>
            <a:ext cx="640080" cy="64008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Anthropic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0BFF"/>
                </a:solidFill>
                <a:latin typeface="Arial"/>
              </a:rPr>
              <a:t>الذكاء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Claude Sonnet 4.6
Streaming · JSON Mode ·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4041648"/>
            <a:ext cx="3749039" cy="109728"/>
          </a:xfrm>
          <a:prstGeom prst="rect">
            <a:avLst/>
          </a:prstGeom>
          <a:solidFill>
            <a:srgbClr val="63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16552" y="4270248"/>
            <a:ext cx="640080" cy="640080"/>
          </a:xfrm>
          <a:prstGeom prst="rect">
            <a:avLst/>
          </a:prstGeom>
          <a:solidFill>
            <a:srgbClr val="63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Stripe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59F8"/>
                </a:solidFill>
                <a:latin typeface="Arial"/>
              </a:rPr>
              <a:t>المدفوعات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Subscriptions + Webhooks
Sandbox → Production 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38744" y="4041648"/>
            <a:ext cx="3749039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5904" y="4270248"/>
            <a:ext cx="6400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75904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Vercel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الاستضافة والنشر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Edge Network · CI/CD
Auto-scaling · Zero downtime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الأمان والخصوصية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Security Architecture — Enterprise-Grade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39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73351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الشبكة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Network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HTTPS/TLS 1.3 — تشفير 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HSTS — إجبار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Content Security Policy (CSP)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11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X-Frame-Options: DENY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39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1673351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المصادقة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05740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Auth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Clerk Enterprise Auth — MFA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16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JWT Tokens — انتهاء صلاحية تلقائي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638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Protected Routes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11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Session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793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البيانات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634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Row Level Security (RLS) — 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223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كل مستخدم يرى بياناته فقط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698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Signed URLs للملفات (مؤقتة)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17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Input Validation شاملة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1148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976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2793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التطبيق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46634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App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749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Rate Limiting: 10 AI reqs/min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223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20 مشاريع/ساعة · 30 تحميل/دقيقة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7698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API Route Guards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6117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Error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خطط الأسعار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Transparent Pricing — Start Free, Scale as You Grow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8346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4748B"/>
                </a:solidFill>
                <a:latin typeface="Arial Black"/>
              </a:rPr>
              <a:t>مجاني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748B"/>
                </a:solidFill>
                <a:latin typeface="Arial Black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3 مشاريع نشطة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5 مخرجات/شهر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وثائق PDF فقط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مجتمعي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508760"/>
            <a:ext cx="283464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FD8"/>
                </a:solidFill>
                <a:latin typeface="Arial Black"/>
              </a:rPr>
              <a:t>ابتدائي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Starter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$29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10 مشاريع نشطة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50 مخرجاً/شهر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PDF + Word +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بريد إلكتروني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حوكمة متقدمة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08760"/>
            <a:ext cx="283464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508760"/>
            <a:ext cx="2834640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1188719"/>
            <a:ext cx="1920240" cy="3474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2161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Arial"/>
              </a:rPr>
              <a:t>الأكثر شعبية 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احترافي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 Light"/>
              </a:rPr>
              <a:t>Professional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$79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/شهر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مشاريع غير محدودة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مخرجات غير محدودة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كل الصيغ + PPTX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ذو أولوية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تحليلات متقدمة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تصدير بيانات كامل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1508760"/>
            <a:ext cx="283464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A017"/>
                </a:solidFill>
                <a:latin typeface="Arial Black"/>
              </a:rPr>
              <a:t>مؤسسي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Enterprise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$199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859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فِرَق متعددة (قريباً)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SSO + SAML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API مخصصة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مدير حساب مخصص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SLA مضمون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تقارير مخصصة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فرصة 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Market Opportunity — Saudi Arabia &amp; GCC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$6.6B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حجم سوق PM السعودي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Saudi PM Software Market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معدل النمو السنوي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Annual Growth Rate (CAGR)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500K+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مدير مشروع نشط في السعودية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Active PMs in Saudi Arabia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$1.3T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حجم مشاريع رؤية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Vision 2030 Project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520440"/>
            <a:ext cx="11338560" cy="3154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  <a:latin typeface="Arial"/>
              </a:rPr>
              <a:t>🇸🇦  انسجام مع رؤية المملكة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🏗️ التنويع الاقتصادي: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80559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وضوح يخدم 23 قطاعاً تشمل كل القطاعات التي تركّز عليها رؤية 2030
من التقنية إلى السياحة والترفيه والطاقة المتجددة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📊 رفع كفاءة المشاريع: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85231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أحد أهداف رؤية 2030 رفع كفاءة تنفيذ المشاريع الحكومية
وضوح يوفر أدوات PMI احترافية للجهات الحكومية بتكلفة منخفضة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155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💡 التحول الرقمي: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089903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رؤية 2030 تدفع نحو التحول الرقمي في كل القطاعات
وضوح هو الحل الرقمي المحلي الأول لإدارة المشاريع بالعربية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نموذج الأعمال والإيرادات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Business Model &amp; Revenue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09728" cy="1143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اشتراكات شهرية / سنوية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482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SaaS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459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النموذج الأساسي: خطط Starter ($29) · Professional ($79) · Enterprise ($199)
إيراد متكرر ومتوقع مع نمو مرتبط بعدد العملاء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39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39"/>
            <a:ext cx="109728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90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26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باقات الشركات والمؤسسات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0127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  <a:latin typeface="Calibri Light"/>
              </a:rPr>
              <a:t>Enterprise &amp; Corporate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07791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عقود سنوية للشركات الكبيرة مع مقاعد متعددة (Task 22)
تخصيص وتدريب وأولوية الدعم — عائد أعلى بكثير لكل عميل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1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1"/>
            <a:ext cx="109728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52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8795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الشراكات الحكومية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4A017"/>
                </a:solidFill>
                <a:latin typeface="Calibri Light"/>
              </a:rPr>
              <a:t>Government 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69663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تراخيص مؤسسية للجهات الحكومية والمؤسسات الحكومية السعودية
إمكانية حصة مقطوعة (لا اشتراك شهري) مع دعم مخصص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58383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58383"/>
            <a:ext cx="10972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144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4982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التدريب والشهادات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3387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Calibri Light"/>
              </a:rPr>
              <a:t>Training &amp; Certification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431536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برامج تدريبية لإدارة المشاريع مرتبطة بالمنصة
شراكة محتملة مع PMI Saudi Chapter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هدف السنة الأولى: 200 عميل مدفوع  ·  ARR: ~$200K  |  السنة الثانية: 1000 عميل  ·  ARR: ~$1M  |  السنة الخامسة: 10,000 عميل  ·  ARR: ~$10M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المستخدم المستهدف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Target User Personas — Who Benefits Most from Wuduh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7033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المشروع المستقل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B4FD8"/>
                </a:solidFill>
                <a:latin typeface="Calibri Light"/>
              </a:rPr>
              <a:t>Independent PM / Freelancer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مستشار أو مقاول مستقل يُنجز 5-20 مشروعاً سنوياً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يوفر 60%+ من وقت إعداد الوثائق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يُقدّم وثائق احترافية للعملاء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يلتزم بمعايير PMI دون خبرة مسبقة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Starter كافية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417320"/>
            <a:ext cx="37033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مشاريع في شركة متوسطة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4A017"/>
                </a:solidFill>
                <a:latin typeface="Calibri Light"/>
              </a:rPr>
              <a:t>PM in Mid-size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شركات 50-500 موظف في القطاع الخاص السعودي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توحيد وثائق المشاريع عبر الفِرَق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توفير تكاليف الاستشارات الخارجية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PMBOK compliance تلقائي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Professional مثالية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مشاريع حكومي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0B981"/>
                </a:solidFill>
                <a:latin typeface="Calibri Light"/>
              </a:rPr>
              <a:t>Government Project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جهات حكومية ومؤسسات شبه حكومية وشركات مملوكة للدولة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التوثيق الرسمي وفق المعايير الدولية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تقارير جاهزة للمسؤولين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دعم مناقصات ومشاريع رؤية 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Enterprise / حكومية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الميزة التنافسية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Why Wuduh? Competitive Positioning vs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2926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6184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الميزة / 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72768"/>
            <a:ext cx="1828800" cy="5029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وضوح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65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Wuduh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572768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Microsoft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572768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Monday.com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572768"/>
            <a:ext cx="329184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18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استشارات تقليدية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Consultants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75688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488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باللغة العربية كاملاً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75688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2075688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951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075688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جزئياً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075688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21488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يعتمد على الاستشاري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06040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67919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PMBOK 7 مُدمج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606040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60604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951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60604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2606040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2" y="26791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 (بتكلفة عالية)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36391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20954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ذكاء اصطناعي لتوليد الوثائق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3136391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3136391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136391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3136391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8552" y="32095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66744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73989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25+ وثيقة بكل الصيغ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3666744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6499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3666744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951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محدود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3666744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3666744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373989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 (بتكلفة عالية)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97096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42702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سياق قطاعي خاص (23 قطاع)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4197096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66360" y="4197096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951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4197096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1403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15400" y="4197096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4270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جزئياً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727448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48006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سعر مناسب ($29-$199/شهر)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91840" y="4727448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6499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60" y="4727448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951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غالي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4727448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1403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متوسط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15400" y="4727448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480060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 (آلاف الريالات)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25780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533095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لا تثبيت — SaaS سحابي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40" y="5257800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6499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66360" y="52578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3951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0880" y="52578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1403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15400" y="52578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533095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خارطة الطريق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Product Roadmap 2026 —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الإطلاق /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المنصة الأساسية جاهزة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23 قطاعاً مدعوماً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25+ وثيقة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الأمان والأداء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🔜 إضافة $5 للـ Anthropic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🔜 إطلاق مدفوع رسمياً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481328"/>
            <a:ext cx="2697480" cy="5029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النمو /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📱 تطبيق جوال (iOS / Android)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🤝 التكاملات (Jira, Notion, MS Project)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👥 أدوات الفريق (تعليقات، مهام)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📊 لوحة تحليلات متقدمة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🌍 دعم متعدد اللغات (EN+AR)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💬 دعم العملاء المباشر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81328"/>
            <a:ext cx="2697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المؤسسات / Enterprise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🏢 Task 22: Multi-tenant (الأقسام)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🔒 SSO + SAML للمؤسسات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📋 قوالب مشاريع مخصصة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⚙️ API للتكامل المؤسسي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🏛️ باقات حكومية مخصصة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📈 تقارير مؤسسية متقدمة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481328"/>
            <a:ext cx="2697480" cy="50292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2027+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التوسع / Expansion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🌍 التوسع لدول الخليج والعالم العربي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🤖 نماذج ذكاء اصطناعي مخصصة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🏆 شراكة PMI Saudi Chapter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📚 أكاديمية وضوح للتدريب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🔗 Marketplace للإضافات والقوالب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🚀 Series A Funding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rial Black"/>
              </a:rPr>
              <a:t>ميزة المؤسسات: إدارة الأقسام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 Light"/>
              </a:rPr>
              <a:t>Enterprise Multi-Tenant Feature (Task 22) — Coming Q4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0352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البنية المعمارية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12848"/>
            <a:ext cx="18288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25856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🏢  المؤسسة / Organization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52928"/>
            <a:ext cx="1645920" cy="3657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986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🏗️  قسم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852928"/>
            <a:ext cx="1645920" cy="3657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8986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🏗️  قسم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429000"/>
            <a:ext cx="109728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4747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كل قسم: مشاريعه الخاصة + أعضاؤه المحددون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عزل بيانات تام بين الأقسام (Row Level Security)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54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المدير يرى كل الأقسام · الأعضاء يرون قسمهم فقط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92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└── فوترة موحدة للمؤسسة + تقارير مجمّعة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0876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508760"/>
            <a:ext cx="58521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6276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حالات الاستخدام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148840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شركات المقاولات الكبيرة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2432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قسم للمشاريع السكنية، قسم للتجارية
قسم للبنية التحتية — كل بميزانيته وفريقه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355848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584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4472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البنوك والمؤسسات المالية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31335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قسم مشاريع IT، قسم امتثال، قسم عمليات
عزل تام لبيانات كل قسم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562856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791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🏛️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65429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الجهات الحكومية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03834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وزارة بأقسامها المختلفة: التخطيط، التنفيذ
المتابعة والرقابة — تحت مظلة واحدة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5769864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998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86130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المجموعات الصحية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624535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مستشفى 1، مستشفى 2، المراكز الصحية
تقارير موحدة للمجموعة مع خصوصية كل وحدة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استراتيجية الإطلاق والنمو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Go-to-Market Strategy — Phase by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57784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التسويق الرقمي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6654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Digital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LinkedIn · Twitter · YouTube
محتوى تعليمي عن PMBOK وإدارة المشاريع
SEO باللغة العربية — كلمات مفتاحية عالية القيمة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8132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81328"/>
            <a:ext cx="557784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164592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الشراكات المهنية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6654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4A017"/>
                </a:solidFill>
                <a:latin typeface="Calibri Light"/>
              </a:rPr>
              <a:t>Professional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PMI Saudi Arabia Chapter
جمعيات المقاولين والمهندسين السعوديين
برامج شراكة مع موردي PMO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8736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87368"/>
            <a:ext cx="55778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7024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القطاع الحكومي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7258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Calibri Light"/>
              </a:rPr>
              <a:t>Government 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9320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عروض مباشرة لوزارات رؤية 2030
المشاركة في منتديات المشاريع الحكومية
برنامج تجريبي مجاني للجهات الحكومية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408736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4087368"/>
            <a:ext cx="5577840" cy="9144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7024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425196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التسويق بالمحتوى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467258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55FF"/>
                </a:solidFill>
                <a:latin typeface="Calibri Light"/>
              </a:rPr>
              <a:t>Content Marketing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9320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قوالب PMBOK مجانية لاستقطاب العملاء
ندوات إلكترونية شهرية عن إدارة المشاريع
بودكاست عربي عن إدارة المشاريع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مؤشرات النجاح والأهداف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KPIs &amp; Success Metrics — Year 1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749039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عميل مدفوع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Paid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D8"/>
                </a:solidFill>
                <a:latin typeface="Calibri"/>
              </a:rPr>
              <a:t>الهدف: نهاية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72768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Arial Black"/>
              </a:rPr>
              <a:t>$200K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ARR سنوي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Annual Recurring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السنة الأولى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72768"/>
            <a:ext cx="3749039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4.5+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تقييم رضا العملاء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Customer Satisfaction (NPS)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NPS ≥ 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087368"/>
            <a:ext cx="3749039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10K+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وثيقة مولّدة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Documents Generated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D8"/>
                </a:solidFill>
                <a:latin typeface="Calibri"/>
              </a:rPr>
              <a:t>في أول 6 أشهر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087368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Arial Black"/>
              </a:rPr>
              <a:t>&lt;5%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معدل إلغاء الاشتراك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Churn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الهدف الشهري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087368"/>
            <a:ext cx="3749039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&lt;2s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سرعة التوليد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Generation Speed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وقت الاستجابة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ما نحتاجه للانطلاق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What We Need — Partnership &amp; Investment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37033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استثمار أولي / Seed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لتمويل التسويق والنمو في السنة الأولى
المنصة جاهزة تقنياً — نحتاج وقود التوسع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تسويق رقمي مكثف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فريق دعم عملاء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بنية تحتية للنمو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حوافز للمستخدمين الأوائل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81328"/>
            <a:ext cx="37033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شراكات استراتيجية / Strategic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شركاء لتوسيع القاعدة والمصداقية
وزارات · شركات · جمعيات مهنية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PMI Saudi Chapter — اعتماد رسمي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وزارات رؤية 2030 — عقود حكومية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ERP كـ Oracle/SAP — تكاملات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مراكز تدريب PM — قنوات توزيع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481328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عملاء مرجعيون / Reference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نحتاج 10-20 عميلاً مؤسسياً في البداية
مقابل تجربة مجانية وتغذية راجعة معمّقة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مقاولات كبيرة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جهات حكومية رائدة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مجموعات صحية أو تعليمية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تقنية ناشئة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731520"/>
            <a:ext cx="2560320" cy="25603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77724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وضوح | Wuduh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4A017"/>
                </a:solidFill>
                <a:latin typeface="Arial"/>
              </a:rPr>
              <a:t>منصة إدارة المشاريع الأولى في المملكة المدعومة بالذكاء الاصطناعي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73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 Light"/>
              </a:rPr>
              <a:t>The Kingdom's First AI-Powered Project Management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349240"/>
            <a:ext cx="57881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📧  info@nailart.sa  ·  🌐  wuduh.sa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PMBOK® is a registered trademark of PMI®. Wuduh is an independent product and is not affiliated with PMI.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2026 · جميع الحقوق محفوظة · وضوح | Wuduh · وضوح يبني · PMBOK® Guide 7th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